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nva Sans Bold" charset="1" panose="020B0803030501040103"/>
      <p:regular r:id="rId30"/>
    </p:embeddedFont>
    <p:embeddedFont>
      <p:font typeface="Canva Sans" charset="1" panose="020B05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https://docs.google.com/document/d/1Mhtf4LWycy_VHvhzQo0vCINmEryf9FKPqDFBn9oCmoM/edit?tab=t.0#heading=h.y23yhg6syp23" TargetMode="External" Type="http://schemas.openxmlformats.org/officeDocument/2006/relationships/hyperlink"/><Relationship Id="rId5" Target="https://docs.google.com/document/d/1Mhtf4LWycy_VHvhzQo0vCINmEryf9FKPqDFBn9oCmoM/edit?tab=t.0#heading=h.y23yhg6syp23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document/d/1Mhtf4LWycy_VHvhzQo0vCINmEryf9FKPqDFBn9oCmoM/edit?usp=sharing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https://docs.google.com/document/d/1Mhtf4LWycy_VHvhzQo0vCINmEryf9FKPqDFBn9oCmoM/edit?tab=t.0#heading=h.y23yhg6syp23" TargetMode="External" Type="http://schemas.openxmlformats.org/officeDocument/2006/relationships/hyperlink"/><Relationship Id="rId6" Target="https://docs.google.com/document/d/1Mhtf4LWycy_VHvhzQo0vCINmEryf9FKPqDFBn9oCmoM/edit?tab=t.0#heading=h.y23yhg6syp23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https://docs.google.com/document/d/1Mhtf4LWycy_VHvhzQo0vCINmEryf9FKPqDFBn9oCmoM/edit?tab=t.0#heading=h.y23yhg6syp23" TargetMode="External" Type="http://schemas.openxmlformats.org/officeDocument/2006/relationships/hyperlink"/><Relationship Id="rId5" Target="https://docs.google.com/document/d/1Mhtf4LWycy_VHvhzQo0vCINmEryf9FKPqDFBn9oCmoM/edit?tab=t.0#heading=h.y23yhg6syp23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9643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22268"/>
            <a:ext cx="14448397" cy="341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4"/>
              </a:lnSpc>
            </a:pPr>
            <a:r>
              <a:rPr lang="en-US" sz="652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</a:t>
            </a:r>
            <a:r>
              <a:rPr lang="en-US" b="true" sz="652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ADS CAMPAIGN: </a:t>
            </a:r>
          </a:p>
          <a:p>
            <a:pPr algn="ctr">
              <a:lnSpc>
                <a:spcPts val="9134"/>
              </a:lnSpc>
            </a:pPr>
            <a:r>
              <a:rPr lang="en-US" b="true" sz="652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LEAD ACQUISITION &amp; SALES GENERATION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3745" y="5705570"/>
            <a:ext cx="1614023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High-Intent Performance Framework: Digital Case Study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19172" y="7736962"/>
            <a:ext cx="3784163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BHAVYA NAWANI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53553" y="8480236"/>
            <a:ext cx="6382481" cy="114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DIGITAL MARETING INTERN | UNIFED MENTOR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63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6580" y="1507053"/>
            <a:ext cx="5056704" cy="3834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0"/>
              </a:lnSpc>
            </a:pPr>
            <a:r>
              <a:rPr lang="en-US" sz="73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7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ABLE OF</a:t>
            </a:r>
          </a:p>
          <a:p>
            <a:pPr algn="ctr">
              <a:lnSpc>
                <a:spcPts val="10220"/>
              </a:lnSpc>
            </a:pPr>
            <a:r>
              <a:rPr lang="en-US" b="true" sz="73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CONTENTS</a:t>
            </a:r>
          </a:p>
          <a:p>
            <a:pPr algn="ctr">
              <a:lnSpc>
                <a:spcPts val="102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9760768" y="1211778"/>
            <a:ext cx="55651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3" indent="-485777" lvl="1">
              <a:lnSpc>
                <a:spcPts val="6300"/>
              </a:lnSpc>
              <a:buAutoNum type="arabicPeriod" startAt="1"/>
            </a:pPr>
            <a:r>
              <a:rPr lang="en-US" sz="4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Company Profile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732718" y="2308420"/>
            <a:ext cx="776880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3" indent="-485777" lvl="1">
              <a:lnSpc>
                <a:spcPts val="6300"/>
              </a:lnSpc>
              <a:buAutoNum type="arabicPeriod" startAt="1"/>
            </a:pPr>
            <a:r>
              <a:rPr lang="en-US" sz="4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Campaign Details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60768" y="3405062"/>
            <a:ext cx="6798637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3" indent="-485777" lvl="1">
              <a:lnSpc>
                <a:spcPts val="6300"/>
              </a:lnSpc>
              <a:buAutoNum type="arabicPeriod" startAt="1"/>
            </a:pPr>
            <a:r>
              <a:rPr lang="en-US" sz="4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Market Research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2718" y="4371975"/>
            <a:ext cx="751950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3" indent="-485777" lvl="1">
              <a:lnSpc>
                <a:spcPts val="6300"/>
              </a:lnSpc>
              <a:buAutoNum type="arabicPeriod" startAt="1"/>
            </a:pPr>
            <a:r>
              <a:rPr lang="en-US" sz="4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Campaign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32718" y="5441093"/>
            <a:ext cx="894623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Keyword Research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2718" y="7353300"/>
            <a:ext cx="6847792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Channel Mix $Budget Allocation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32718" y="6412643"/>
            <a:ext cx="894623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Content Stratategy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2718" y="9096375"/>
            <a:ext cx="894623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1550" indent="-485775" lvl="1">
              <a:lnSpc>
                <a:spcPts val="6299"/>
              </a:lnSpc>
              <a:spcBef>
                <a:spcPct val="0"/>
              </a:spcBef>
              <a:buAutoNum type="arabicPeriod" startAt="1"/>
            </a:pPr>
            <a:r>
              <a:rPr lang="en-US" sz="4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Challenges &amp; Learning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83918" y="-3248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31518" y="-1724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70047" y="2035028"/>
            <a:ext cx="11249502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COMPANY PROFILE &amp; INFRASTRUCTURE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047" y="3276033"/>
            <a:ext cx="7130058" cy="5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b="true" sz="320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ENTITY</a:t>
            </a:r>
            <a:r>
              <a:rPr lang="en-US" b="true" sz="3200">
                <a:solidFill>
                  <a:srgbClr val="38B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BRIEF: NEXUS GROWTH LAB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8446" y="4271077"/>
            <a:ext cx="15895671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Nexus Growth Labs is a specialized B2B Performance Marketing Agency based in Bareilly, India. We bridge the gap between Global Technical Infrastructure and Regional Market Depth.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an era of "junk leads," Nexus focuses on Quality-First Acquisition, utilizing AI-driven bidding and multilingual search strategies to scale SMEs in Tier 1 and Tier 2 cities.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7743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65513"/>
            <a:ext cx="777778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CAMPAIGN DETAILS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491" y="3065936"/>
            <a:ext cx="16639082" cy="6635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4"/>
              </a:lnSpc>
              <a:spcBef>
                <a:spcPct val="0"/>
              </a:spcBef>
            </a:pPr>
            <a:r>
              <a:rPr lang="en-US" b="true" sz="420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Awareness: </a:t>
            </a:r>
            <a:r>
              <a:rPr lang="en-US" sz="42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Dominatin</a:t>
            </a:r>
            <a:r>
              <a:rPr lang="en-US" sz="42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 high-intent search queries to build instant trust at the exact moment a decision-maker seeks a solution.</a:t>
            </a:r>
          </a:p>
          <a:p>
            <a:pPr algn="ctr">
              <a:lnSpc>
                <a:spcPts val="5884"/>
              </a:lnSpc>
              <a:spcBef>
                <a:spcPct val="0"/>
              </a:spcBef>
            </a:pPr>
          </a:p>
          <a:p>
            <a:pPr algn="ctr">
              <a:lnSpc>
                <a:spcPts val="5884"/>
              </a:lnSpc>
              <a:spcBef>
                <a:spcPct val="0"/>
              </a:spcBef>
            </a:pPr>
            <a:r>
              <a:rPr lang="en-US" b="true" sz="420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Lead Generation: </a:t>
            </a:r>
            <a:r>
              <a:rPr lang="en-US" sz="42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Eliminating budget leakage by filt</a:t>
            </a:r>
            <a:r>
              <a:rPr lang="en-US" sz="42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ering out irrelevant traffic to ensure spend is 100% focused on qualified buyers.</a:t>
            </a:r>
          </a:p>
          <a:p>
            <a:pPr algn="ctr">
              <a:lnSpc>
                <a:spcPts val="5884"/>
              </a:lnSpc>
              <a:spcBef>
                <a:spcPct val="0"/>
              </a:spcBef>
            </a:pPr>
          </a:p>
          <a:p>
            <a:pPr algn="ctr">
              <a:lnSpc>
                <a:spcPts val="58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7743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665513"/>
            <a:ext cx="777778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CAMPAIGN DETAILS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724150"/>
            <a:ext cx="16340714" cy="549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  <a:spcBef>
                <a:spcPct val="0"/>
              </a:spcBef>
            </a:pPr>
            <a:r>
              <a:rPr lang="en-US" b="true" sz="44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Conversion</a:t>
            </a:r>
            <a:r>
              <a:rPr lang="en-US" sz="44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Driving traffic to tracked landing pages with specific bid adjustments to capture founders during professional business hours.</a:t>
            </a:r>
          </a:p>
          <a:p>
            <a:pPr algn="ctr">
              <a:lnSpc>
                <a:spcPts val="6298"/>
              </a:lnSpc>
              <a:spcBef>
                <a:spcPct val="0"/>
              </a:spcBef>
            </a:pPr>
          </a:p>
          <a:p>
            <a:pPr algn="ctr">
              <a:lnSpc>
                <a:spcPts val="6298"/>
              </a:lnSpc>
              <a:spcBef>
                <a:spcPct val="0"/>
              </a:spcBef>
            </a:pPr>
            <a:r>
              <a:rPr lang="en-US" b="true" sz="44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Budget</a:t>
            </a:r>
            <a:r>
              <a:rPr lang="en-US" sz="44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Scaling proven results while simultaneously retargeting lost visitors and testing localized messaging for the lowest cost-per-lead.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26836" y="2536358"/>
            <a:ext cx="4374573" cy="6245080"/>
          </a:xfrm>
          <a:custGeom>
            <a:avLst/>
            <a:gdLst/>
            <a:ahLst/>
            <a:cxnLst/>
            <a:rect r="r" b="b" t="t" l="l"/>
            <a:pathLst>
              <a:path h="6245080" w="4374573">
                <a:moveTo>
                  <a:pt x="0" y="0"/>
                </a:moveTo>
                <a:lnTo>
                  <a:pt x="4374573" y="0"/>
                </a:lnTo>
                <a:lnTo>
                  <a:pt x="4374573" y="6245079"/>
                </a:lnTo>
                <a:lnTo>
                  <a:pt x="0" y="62450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90894" y="4195703"/>
            <a:ext cx="1101935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Discovery Layer (TOFU/MOFU):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Professional disc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overy and technical search are dominated by English. This is the layer where technical authority and performance marketing excellence are established.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4010270" y="9143387"/>
            <a:ext cx="2660647" cy="782289"/>
            <a:chOff x="0" y="0"/>
            <a:chExt cx="775686" cy="228069"/>
          </a:xfrm>
        </p:grpSpPr>
        <p:sp>
          <p:nvSpPr>
            <p:cNvPr name="Freeform 6" id="6">
              <a:hlinkClick r:id="rId4" tooltip="https://docs.google.com/document/d/1Mhtf4LWycy_VHvhzQo0vCINmEryf9FKPqDFBn9oCmoM/edit?tab=t.0#heading=h.y23yhg6syp23"/>
            </p:cNvPr>
            <p:cNvSpPr/>
            <p:nvPr/>
          </p:nvSpPr>
          <p:spPr>
            <a:xfrm flipH="false" flipV="false" rot="0">
              <a:off x="0" y="0"/>
              <a:ext cx="775686" cy="228069"/>
            </a:xfrm>
            <a:custGeom>
              <a:avLst/>
              <a:gdLst/>
              <a:ahLst/>
              <a:cxnLst/>
              <a:rect r="r" b="b" t="t" l="l"/>
              <a:pathLst>
                <a:path h="228069" w="775686">
                  <a:moveTo>
                    <a:pt x="572486" y="0"/>
                  </a:moveTo>
                  <a:cubicBezTo>
                    <a:pt x="684710" y="0"/>
                    <a:pt x="775686" y="51055"/>
                    <a:pt x="775686" y="114034"/>
                  </a:cubicBezTo>
                  <a:cubicBezTo>
                    <a:pt x="775686" y="177014"/>
                    <a:pt x="684710" y="228069"/>
                    <a:pt x="572486" y="228069"/>
                  </a:cubicBezTo>
                  <a:lnTo>
                    <a:pt x="203200" y="228069"/>
                  </a:lnTo>
                  <a:cubicBezTo>
                    <a:pt x="90976" y="228069"/>
                    <a:pt x="0" y="177014"/>
                    <a:pt x="0" y="114034"/>
                  </a:cubicBezTo>
                  <a:cubicBezTo>
                    <a:pt x="0" y="510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728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75686" cy="266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90894" y="1607700"/>
            <a:ext cx="1404437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RESEARCH - LANGUAGE SEGMENTATION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894" y="2843153"/>
            <a:ext cx="908374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the Indian market, disc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overy is global (English), but conversion is personal (Hindi/Regional).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894" y="6666887"/>
            <a:ext cx="10241074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Trust Layer (BOFU):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osing the deal requires the "Trust Pivot." Utilizing Hindi/Regional languages for case studies and testimonials bridges the cultural gap and solidifies "Bharat-level" trust.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659973" y="9336094"/>
            <a:ext cx="136124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5" tooltip="https://docs.google.com/document/d/1Mhtf4LWycy_VHvhzQo0vCINmEryf9FKPqDFBn9oCmoM/edit?tab=t.0#heading=h.y23yhg6syp23"/>
              </a:rPr>
              <a:t>RESEARCH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09607" y="8990337"/>
            <a:ext cx="3086100" cy="1039488"/>
            <a:chOff x="0" y="0"/>
            <a:chExt cx="812800" cy="273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3775"/>
            </a:xfrm>
            <a:custGeom>
              <a:avLst/>
              <a:gdLst/>
              <a:ahLst/>
              <a:cxnLst/>
              <a:rect r="r" b="b" t="t" l="l"/>
              <a:pathLst>
                <a:path h="273775" w="812800">
                  <a:moveTo>
                    <a:pt x="609600" y="0"/>
                  </a:moveTo>
                  <a:cubicBezTo>
                    <a:pt x="721824" y="0"/>
                    <a:pt x="812800" y="61287"/>
                    <a:pt x="812800" y="136887"/>
                  </a:cubicBezTo>
                  <a:cubicBezTo>
                    <a:pt x="812800" y="212488"/>
                    <a:pt x="721824" y="273775"/>
                    <a:pt x="609600" y="273775"/>
                  </a:cubicBezTo>
                  <a:lnTo>
                    <a:pt x="203200" y="273775"/>
                  </a:lnTo>
                  <a:cubicBezTo>
                    <a:pt x="90976" y="273775"/>
                    <a:pt x="0" y="212488"/>
                    <a:pt x="0" y="136887"/>
                  </a:cubicBezTo>
                  <a:cubicBezTo>
                    <a:pt x="0" y="61287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728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31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161556" y="9201150"/>
            <a:ext cx="2382203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2" tooltip="https://docs.google.com/document/d/1Mhtf4LWycy_VHvhzQo0vCINmEryf9FKPqDFBn9oCmoM/edit?usp=sharing"/>
              </a:rPr>
              <a:t>RESEARCH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7363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70452" y="3015001"/>
            <a:ext cx="8175511" cy="4041304"/>
          </a:xfrm>
          <a:custGeom>
            <a:avLst/>
            <a:gdLst/>
            <a:ahLst/>
            <a:cxnLst/>
            <a:rect r="r" b="b" t="t" l="l"/>
            <a:pathLst>
              <a:path h="4041304" w="8175511">
                <a:moveTo>
                  <a:pt x="0" y="0"/>
                </a:moveTo>
                <a:lnTo>
                  <a:pt x="8175511" y="0"/>
                </a:lnTo>
                <a:lnTo>
                  <a:pt x="8175511" y="4041303"/>
                </a:lnTo>
                <a:lnTo>
                  <a:pt x="0" y="4041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672945"/>
            <a:ext cx="1266040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RESEARCH    -  AUDIENCE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9233" y="2694566"/>
            <a:ext cx="9271613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the m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odern B2B landscape, the "Sale" happens before the "Contact." Marketing must dominate the anonymous research phase.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4820098"/>
            <a:ext cx="9684833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Mark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 Reality: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B2B buyers complete 70% of their evaluation independently through "Dark Social" and untracked research before ever engaging with a sales rep.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9233" y="7328542"/>
            <a:ext cx="1131596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Strategic Shift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Moving fr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 reactive lead collection to Demand Generation. We must build authority during the 70% "Anonymous" window to be the inevitable choice by the time "Direct Contact" (30%) occurs.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598653" y="8741124"/>
            <a:ext cx="2660647" cy="782289"/>
            <a:chOff x="0" y="0"/>
            <a:chExt cx="775686" cy="228069"/>
          </a:xfrm>
        </p:grpSpPr>
        <p:sp>
          <p:nvSpPr>
            <p:cNvPr name="Freeform 13" id="13">
              <a:hlinkClick r:id="rId5" tooltip="https://docs.google.com/document/d/1Mhtf4LWycy_VHvhzQo0vCINmEryf9FKPqDFBn9oCmoM/edit?tab=t.0#heading=h.y23yhg6syp23"/>
            </p:cNvPr>
            <p:cNvSpPr/>
            <p:nvPr/>
          </p:nvSpPr>
          <p:spPr>
            <a:xfrm flipH="false" flipV="false" rot="0">
              <a:off x="0" y="0"/>
              <a:ext cx="775686" cy="228069"/>
            </a:xfrm>
            <a:custGeom>
              <a:avLst/>
              <a:gdLst/>
              <a:ahLst/>
              <a:cxnLst/>
              <a:rect r="r" b="b" t="t" l="l"/>
              <a:pathLst>
                <a:path h="228069" w="775686">
                  <a:moveTo>
                    <a:pt x="572486" y="0"/>
                  </a:moveTo>
                  <a:cubicBezTo>
                    <a:pt x="684710" y="0"/>
                    <a:pt x="775686" y="51055"/>
                    <a:pt x="775686" y="114034"/>
                  </a:cubicBezTo>
                  <a:cubicBezTo>
                    <a:pt x="775686" y="177014"/>
                    <a:pt x="684710" y="228069"/>
                    <a:pt x="572486" y="228069"/>
                  </a:cubicBezTo>
                  <a:lnTo>
                    <a:pt x="203200" y="228069"/>
                  </a:lnTo>
                  <a:cubicBezTo>
                    <a:pt x="90976" y="228069"/>
                    <a:pt x="0" y="177014"/>
                    <a:pt x="0" y="114034"/>
                  </a:cubicBezTo>
                  <a:cubicBezTo>
                    <a:pt x="0" y="510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728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75686" cy="266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5248356" y="8933831"/>
            <a:ext cx="136124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6" tooltip="https://docs.google.com/document/d/1Mhtf4LWycy_VHvhzQo0vCINmEryf9FKPqDFBn9oCmoM/edit?tab=t.0#heading=h.y23yhg6syp23"/>
              </a:rPr>
              <a:t>RESEARCH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01664" y="3978481"/>
            <a:ext cx="8065391" cy="4184748"/>
          </a:xfrm>
          <a:custGeom>
            <a:avLst/>
            <a:gdLst/>
            <a:ahLst/>
            <a:cxnLst/>
            <a:rect r="r" b="b" t="t" l="l"/>
            <a:pathLst>
              <a:path h="4184748" w="8065391">
                <a:moveTo>
                  <a:pt x="0" y="0"/>
                </a:moveTo>
                <a:lnTo>
                  <a:pt x="8065391" y="0"/>
                </a:lnTo>
                <a:lnTo>
                  <a:pt x="8065391" y="4184748"/>
                </a:lnTo>
                <a:lnTo>
                  <a:pt x="0" y="4184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629448"/>
            <a:ext cx="1280739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RESEARCH -COMPETITOR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476750"/>
            <a:ext cx="9801664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Market Gap: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* Gl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obal Agencies: High overhead, slow execution, and "Brand Fluff" that doesn't translate to SME ROI.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 Shops/Freelancers: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Cheap but technically shallow; they lack the enterprise-grade data stack (Server-Side Tracking/GA4) required for 2026 performance.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19743" y="2776874"/>
            <a:ext cx="938192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Nex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 Growth Labs occupies the high-ground between "Slow Global Giants" and "Low-Tech Local Shops."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382962" y="8867155"/>
            <a:ext cx="2660647" cy="782289"/>
            <a:chOff x="0" y="0"/>
            <a:chExt cx="775686" cy="228069"/>
          </a:xfrm>
        </p:grpSpPr>
        <p:sp>
          <p:nvSpPr>
            <p:cNvPr name="Freeform 8" id="8">
              <a:hlinkClick r:id="rId4" tooltip="https://docs.google.com/document/d/1Mhtf4LWycy_VHvhzQo0vCINmEryf9FKPqDFBn9oCmoM/edit?tab=t.0#heading=h.y23yhg6syp23"/>
            </p:cNvPr>
            <p:cNvSpPr/>
            <p:nvPr/>
          </p:nvSpPr>
          <p:spPr>
            <a:xfrm flipH="false" flipV="false" rot="0">
              <a:off x="0" y="0"/>
              <a:ext cx="775686" cy="228069"/>
            </a:xfrm>
            <a:custGeom>
              <a:avLst/>
              <a:gdLst/>
              <a:ahLst/>
              <a:cxnLst/>
              <a:rect r="r" b="b" t="t" l="l"/>
              <a:pathLst>
                <a:path h="228069" w="775686">
                  <a:moveTo>
                    <a:pt x="572486" y="0"/>
                  </a:moveTo>
                  <a:cubicBezTo>
                    <a:pt x="684710" y="0"/>
                    <a:pt x="775686" y="51055"/>
                    <a:pt x="775686" y="114034"/>
                  </a:cubicBezTo>
                  <a:cubicBezTo>
                    <a:pt x="775686" y="177014"/>
                    <a:pt x="684710" y="228069"/>
                    <a:pt x="572486" y="228069"/>
                  </a:cubicBezTo>
                  <a:lnTo>
                    <a:pt x="203200" y="228069"/>
                  </a:lnTo>
                  <a:cubicBezTo>
                    <a:pt x="90976" y="228069"/>
                    <a:pt x="0" y="177014"/>
                    <a:pt x="0" y="114034"/>
                  </a:cubicBezTo>
                  <a:cubicBezTo>
                    <a:pt x="0" y="510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9728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75686" cy="266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5032665" y="9059863"/>
            <a:ext cx="136124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5" tooltip="https://docs.google.com/document/d/1Mhtf4LWycy_VHvhzQo0vCINmEryf9FKPqDFBn9oCmoM/edit?tab=t.0#heading=h.y23yhg6syp23"/>
              </a:rPr>
              <a:t>RESEARCH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46470" y="3216785"/>
            <a:ext cx="7474954" cy="4172150"/>
          </a:xfrm>
          <a:custGeom>
            <a:avLst/>
            <a:gdLst/>
            <a:ahLst/>
            <a:cxnLst/>
            <a:rect r="r" b="b" t="t" l="l"/>
            <a:pathLst>
              <a:path h="4172150" w="7474954">
                <a:moveTo>
                  <a:pt x="0" y="0"/>
                </a:moveTo>
                <a:lnTo>
                  <a:pt x="7474954" y="0"/>
                </a:lnTo>
                <a:lnTo>
                  <a:pt x="7474954" y="4172150"/>
                </a:lnTo>
                <a:lnTo>
                  <a:pt x="0" y="4172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27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93624" y="1235585"/>
            <a:ext cx="9893023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CAMPAIGN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321435"/>
            <a:ext cx="1663300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Multi-Layered B2B Intent Fun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nel From Anonymous Research to High-Trust Conversion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130" y="6898173"/>
            <a:ext cx="15512219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MOFU: GTM-Driven Acc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ount Monitoring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Identify "Buying Groups" (multiple stakeholders from the same firm) using Server-Side GTM.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Focus: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Behavioral tracking on high-value pages like "Pricing" and "Case Studies."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257550"/>
            <a:ext cx="10546470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TOFU: Technical Intent Intercepti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Capture the "Invisible 70%" of SME founders during their anonymous research phase.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Focus: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100% English Search &amp; Display for technical clusters (e.g., GA4, Server-Side Setup).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6161" y="2654300"/>
            <a:ext cx="10373742" cy="492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BOFU: The 'Bharat' Trust-Bridge</a:t>
            </a:r>
          </a:p>
          <a:p>
            <a:pPr algn="ctr">
              <a:lnSpc>
                <a:spcPts val="4899"/>
              </a:lnSpc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3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ocus:</a:t>
            </a: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Bilingual (Hindi/English) Remarketing to bridge the gap between "Professionalism"and "Personal Trust."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</a:t>
            </a:r>
            <a:r>
              <a:rPr lang="en-US" sz="3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Use localized video testimonials to eliminate final risk friction.</a:t>
            </a:r>
          </a:p>
          <a:p>
            <a:pPr algn="ctr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546470" y="3216785"/>
            <a:ext cx="7474954" cy="4172150"/>
          </a:xfrm>
          <a:custGeom>
            <a:avLst/>
            <a:gdLst/>
            <a:ahLst/>
            <a:cxnLst/>
            <a:rect r="r" b="b" t="t" l="l"/>
            <a:pathLst>
              <a:path h="4172150" w="7474954">
                <a:moveTo>
                  <a:pt x="0" y="0"/>
                </a:moveTo>
                <a:lnTo>
                  <a:pt x="7474954" y="0"/>
                </a:lnTo>
                <a:lnTo>
                  <a:pt x="7474954" y="4172150"/>
                </a:lnTo>
                <a:lnTo>
                  <a:pt x="0" y="4172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27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8142588"/>
            <a:ext cx="6588252" cy="158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NOTE: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TOFU: ( Top of the Funnel )</a:t>
            </a:r>
          </a:p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MOFU: ( Middle of the funnel )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BOFU: ( Bottom of the Funnel 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83019" y="2886829"/>
            <a:ext cx="9144000" cy="4987636"/>
          </a:xfrm>
          <a:custGeom>
            <a:avLst/>
            <a:gdLst/>
            <a:ahLst/>
            <a:cxnLst/>
            <a:rect r="r" b="b" t="t" l="l"/>
            <a:pathLst>
              <a:path h="4987636" w="9144000">
                <a:moveTo>
                  <a:pt x="0" y="0"/>
                </a:moveTo>
                <a:lnTo>
                  <a:pt x="9144000" y="0"/>
                </a:lnTo>
                <a:lnTo>
                  <a:pt x="9144000" y="4987637"/>
                </a:lnTo>
                <a:lnTo>
                  <a:pt x="0" y="4987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3455" y="1411964"/>
            <a:ext cx="942594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EXECUTION TIMELINE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7076" y="5841995"/>
            <a:ext cx="8457144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2: Intent Interception (Days 16–45)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Launch English Search Ads +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YouTube Custom Intent targeting.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Capture active "Problem-Aware" traffic to seed remarketing pools.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7076" y="2501265"/>
            <a:ext cx="8457144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1: GTM &amp; Intelligence Set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 (Days 1–15)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Full technical deployment: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GTM Container, Conversion Linker, and Calendly integration.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Establish a 100% accurate data baseline before spending.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73455" y="1411964"/>
            <a:ext cx="942594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STRATEGIC EXECUTION TIMELINE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883019" y="2886829"/>
            <a:ext cx="9144000" cy="4987636"/>
          </a:xfrm>
          <a:custGeom>
            <a:avLst/>
            <a:gdLst/>
            <a:ahLst/>
            <a:cxnLst/>
            <a:rect r="r" b="b" t="t" l="l"/>
            <a:pathLst>
              <a:path h="4987636" w="9144000">
                <a:moveTo>
                  <a:pt x="0" y="0"/>
                </a:moveTo>
                <a:lnTo>
                  <a:pt x="9144000" y="0"/>
                </a:lnTo>
                <a:lnTo>
                  <a:pt x="9144000" y="4987637"/>
                </a:lnTo>
                <a:lnTo>
                  <a:pt x="0" y="4987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8884" y="2829679"/>
            <a:ext cx="8264411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3: The Tr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ust Bridge (Days 46–75)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Activate Bilingual Remarketing assets across Display and YouTube.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Retarget form-abandoners with ROI-focused local case studies.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13221" y="6255216"/>
            <a:ext cx="8469798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 4: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Optimization &amp; Scaling (Days 76–90+)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Switch to Target CPA (tCPA) bidding; shift budget to high-performing Metro/Tier 2 clusters.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2667" y="526576"/>
            <a:ext cx="7936224" cy="4328850"/>
          </a:xfrm>
          <a:custGeom>
            <a:avLst/>
            <a:gdLst/>
            <a:ahLst/>
            <a:cxnLst/>
            <a:rect r="r" b="b" t="t" l="l"/>
            <a:pathLst>
              <a:path h="4328850" w="7936224">
                <a:moveTo>
                  <a:pt x="0" y="0"/>
                </a:moveTo>
                <a:lnTo>
                  <a:pt x="7936224" y="0"/>
                </a:lnTo>
                <a:lnTo>
                  <a:pt x="7936224" y="4328849"/>
                </a:lnTo>
                <a:lnTo>
                  <a:pt x="0" y="4328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6826" y="1564203"/>
            <a:ext cx="7648099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GTM-DRIVEN</a:t>
            </a:r>
            <a:r>
              <a:rPr lang="en-US" b="true" sz="4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MONITORING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633850"/>
            <a:ext cx="682557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Adv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anced Tracking Infrastructure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Measuring "Intent" Beyond the Click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1472" y="4627880"/>
            <a:ext cx="15536208" cy="565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Multi-Stakeholder Identification: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GTM logic triggers a "High Intent Acc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ount" alert when ≥2 stakeholders from the same SME domain visit within 48 hours.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2B Conversion Linker: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Ensures first-party cookie stability to prevent data loss across different browser sessions.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AutoNum type="arabicPeriod" startAt="1"/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ehavioral Event Tracking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Measuring Scroll Depth on case studies and Form Field Engagement to identify exactly where leads drop off.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Result: </a:t>
            </a:r>
            <a:r>
              <a:rPr lang="en-US" sz="29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Data-driven prioritization for sales outreach, focusing only on "Warm" accounts</a:t>
            </a:r>
          </a:p>
          <a:p>
            <a:pPr algn="ctr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47244" y="2644004"/>
            <a:ext cx="13357333" cy="7296443"/>
          </a:xfrm>
          <a:custGeom>
            <a:avLst/>
            <a:gdLst/>
            <a:ahLst/>
            <a:cxnLst/>
            <a:rect r="r" b="b" t="t" l="l"/>
            <a:pathLst>
              <a:path h="7296443" w="13357333">
                <a:moveTo>
                  <a:pt x="0" y="0"/>
                </a:moveTo>
                <a:lnTo>
                  <a:pt x="13357334" y="0"/>
                </a:lnTo>
                <a:lnTo>
                  <a:pt x="13357334" y="7296444"/>
                </a:lnTo>
                <a:lnTo>
                  <a:pt x="0" y="7296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65243" y="1651197"/>
            <a:ext cx="608707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KEYWORD RESEARCH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906210" y="2644004"/>
            <a:ext cx="13362511" cy="7299272"/>
          </a:xfrm>
          <a:custGeom>
            <a:avLst/>
            <a:gdLst/>
            <a:ahLst/>
            <a:cxnLst/>
            <a:rect r="r" b="b" t="t" l="l"/>
            <a:pathLst>
              <a:path h="7299272" w="13362511">
                <a:moveTo>
                  <a:pt x="0" y="0"/>
                </a:moveTo>
                <a:lnTo>
                  <a:pt x="13362511" y="0"/>
                </a:lnTo>
                <a:lnTo>
                  <a:pt x="13362511" y="7299272"/>
                </a:lnTo>
                <a:lnTo>
                  <a:pt x="0" y="7299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65243" y="1651197"/>
            <a:ext cx="608707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KEYWORD RESEARCH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81239" y="2620518"/>
            <a:ext cx="13367373" cy="7301927"/>
          </a:xfrm>
          <a:custGeom>
            <a:avLst/>
            <a:gdLst/>
            <a:ahLst/>
            <a:cxnLst/>
            <a:rect r="r" b="b" t="t" l="l"/>
            <a:pathLst>
              <a:path h="7301927" w="13367373">
                <a:moveTo>
                  <a:pt x="0" y="0"/>
                </a:moveTo>
                <a:lnTo>
                  <a:pt x="13367373" y="0"/>
                </a:lnTo>
                <a:lnTo>
                  <a:pt x="13367373" y="7301927"/>
                </a:lnTo>
                <a:lnTo>
                  <a:pt x="0" y="7301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65243" y="1651197"/>
            <a:ext cx="608707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KEYWORD RESEARCH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9643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9996" y="1206545"/>
            <a:ext cx="6293101" cy="3816168"/>
          </a:xfrm>
          <a:custGeom>
            <a:avLst/>
            <a:gdLst/>
            <a:ahLst/>
            <a:cxnLst/>
            <a:rect r="r" b="b" t="t" l="l"/>
            <a:pathLst>
              <a:path h="3816168" w="6293101">
                <a:moveTo>
                  <a:pt x="0" y="0"/>
                </a:moveTo>
                <a:lnTo>
                  <a:pt x="6293101" y="0"/>
                </a:lnTo>
                <a:lnTo>
                  <a:pt x="6293101" y="3816168"/>
                </a:lnTo>
                <a:lnTo>
                  <a:pt x="0" y="3816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93156" y="1520706"/>
            <a:ext cx="675084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 CONTENT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6619" y="2562179"/>
            <a:ext cx="829738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Inte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rcepting technical intent and closing the "Trust Gap" with bilingual social proof.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19" y="4559357"/>
            <a:ext cx="13076297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Search Ads: Technical "Pull" Strategy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Audience: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SME F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ounders and CTOs performing active research.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Language: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100% Professional English.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 Copy Highlights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Headline 1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Nexus GA4 Setup Experts | Server-Side Tracking Audit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Headline 2: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Fix B2B Attribution Loss | Zero-Leakage Lead Gen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01525" y="8216957"/>
            <a:ext cx="16321182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Description: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Stop losing 30% of y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 lead data to browser restrictions. Specialized B2B performance marketing for Indian SMEs. Drive higher ROI with data-backed technical execution. Book a free consultation.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31919" y="1641657"/>
            <a:ext cx="6410696" cy="3501843"/>
          </a:xfrm>
          <a:custGeom>
            <a:avLst/>
            <a:gdLst/>
            <a:ahLst/>
            <a:cxnLst/>
            <a:rect r="r" b="b" t="t" l="l"/>
            <a:pathLst>
              <a:path h="3501843" w="6410696">
                <a:moveTo>
                  <a:pt x="0" y="0"/>
                </a:moveTo>
                <a:lnTo>
                  <a:pt x="6410696" y="0"/>
                </a:lnTo>
                <a:lnTo>
                  <a:pt x="6410696" y="3501843"/>
                </a:lnTo>
                <a:lnTo>
                  <a:pt x="0" y="3501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0991" y="1962150"/>
            <a:ext cx="11066449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AutoNum type="arabicPeriod" startAt="1"/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YouTube &amp; Display Ads: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"Bharat Trust-Bridge"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Target Audience: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Anonymous researchers being remarketed to after visiting the site.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Creative Format: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30s TrueView Video &amp; High-Contrast Responsive Banners.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0991" y="7753350"/>
            <a:ext cx="14214878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Trust Asset (Bilingual/Hinglish): 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f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ounder-to-founder testimonial.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Hook: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"Nexus ne hamara trust build kiya aur lead quality improve ki."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Expert Tactic: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Transition from English (for technical credibility) to Hindi/Hinglish (for emotional trust) to eliminate "form-fill friction."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0" y="5391150"/>
            <a:ext cx="10587983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Messaging Split: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Auth</a:t>
            </a: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ority Asset (English): A sleek motion graphic video explaining how Server-Side GTM works.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Hook: "Is your funnel leaking data?"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7916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42721" y="1028700"/>
            <a:ext cx="7478443" cy="4085099"/>
          </a:xfrm>
          <a:custGeom>
            <a:avLst/>
            <a:gdLst/>
            <a:ahLst/>
            <a:cxnLst/>
            <a:rect r="r" b="b" t="t" l="l"/>
            <a:pathLst>
              <a:path h="4085099" w="7478443">
                <a:moveTo>
                  <a:pt x="0" y="0"/>
                </a:moveTo>
                <a:lnTo>
                  <a:pt x="7478443" y="0"/>
                </a:lnTo>
                <a:lnTo>
                  <a:pt x="7478443" y="4085099"/>
                </a:lnTo>
                <a:lnTo>
                  <a:pt x="0" y="40850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6822" y="1943060"/>
            <a:ext cx="9625899" cy="715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506" indent="-339253" lvl="1">
              <a:lnSpc>
                <a:spcPts val="4399"/>
              </a:lnSpc>
              <a:buAutoNum type="arabicPeriod" startAt="1"/>
            </a:pPr>
            <a:r>
              <a:rPr lang="en-US" b="true" sz="31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 Placement Guide</a:t>
            </a:r>
          </a:p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b="true" sz="31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Ads Executi</a:t>
            </a:r>
            <a:r>
              <a:rPr lang="en-US" b="true" sz="31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Parameters:</a:t>
            </a:r>
          </a:p>
          <a:p>
            <a:pPr algn="ctr">
              <a:lnSpc>
                <a:spcPts val="4399"/>
              </a:lnSpc>
              <a:spcBef>
                <a:spcPct val="0"/>
              </a:spcBef>
            </a:pPr>
          </a:p>
          <a:p>
            <a:pPr algn="l" marL="678506" indent="-339253" lvl="1">
              <a:lnSpc>
                <a:spcPts val="4399"/>
              </a:lnSpc>
              <a:spcBef>
                <a:spcPct val="0"/>
              </a:spcBef>
              <a:buAutoNum type="arabicPeriod" startAt="1"/>
            </a:pPr>
            <a:r>
              <a:rPr lang="en-US" sz="31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b="true" sz="31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 (Call to Action):</a:t>
            </a:r>
            <a:r>
              <a:rPr lang="en-US" sz="31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"Book Technical Audit" (High value) vs. "Contact Us" (Low value).</a:t>
            </a:r>
          </a:p>
          <a:p>
            <a:pPr algn="ctr">
              <a:lnSpc>
                <a:spcPts val="4399"/>
              </a:lnSpc>
              <a:spcBef>
                <a:spcPct val="0"/>
              </a:spcBef>
            </a:pPr>
          </a:p>
          <a:p>
            <a:pPr algn="l" marL="678506" indent="-339253" lvl="1">
              <a:lnSpc>
                <a:spcPts val="4399"/>
              </a:lnSpc>
              <a:spcBef>
                <a:spcPct val="0"/>
              </a:spcBef>
              <a:buAutoNum type="arabicPeriod" startAt="1"/>
            </a:pPr>
            <a:r>
              <a:rPr lang="en-US" sz="31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  <a:r>
              <a:rPr lang="en-US" b="true" sz="31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isual Style:</a:t>
            </a:r>
            <a:r>
              <a:rPr lang="en-US" sz="31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Clean, minimalist, high-contrast (Deep Blue, White, and Growth Green).</a:t>
            </a:r>
          </a:p>
          <a:p>
            <a:pPr algn="ctr">
              <a:lnSpc>
                <a:spcPts val="4399"/>
              </a:lnSpc>
              <a:spcBef>
                <a:spcPct val="0"/>
              </a:spcBef>
            </a:pPr>
          </a:p>
          <a:p>
            <a:pPr algn="l" marL="678506" indent="-339253" lvl="1">
              <a:lnSpc>
                <a:spcPts val="4399"/>
              </a:lnSpc>
              <a:spcBef>
                <a:spcPct val="0"/>
              </a:spcBef>
              <a:buAutoNum type="arabicPeriod" startAt="1"/>
            </a:pPr>
            <a:r>
              <a:rPr lang="en-US" sz="31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b="true" sz="31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anding Page</a:t>
            </a:r>
            <a:r>
              <a:rPr lang="en-US" sz="31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Dedicated "Technical Audit" page with a Calendly integration for instant booking.</a:t>
            </a:r>
          </a:p>
          <a:p>
            <a:pPr algn="ctr">
              <a:lnSpc>
                <a:spcPts val="4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23509" y="4375191"/>
            <a:ext cx="7084039" cy="4131574"/>
          </a:xfrm>
          <a:custGeom>
            <a:avLst/>
            <a:gdLst/>
            <a:ahLst/>
            <a:cxnLst/>
            <a:rect r="r" b="b" t="t" l="l"/>
            <a:pathLst>
              <a:path h="4131574" w="7084039">
                <a:moveTo>
                  <a:pt x="0" y="0"/>
                </a:moveTo>
                <a:lnTo>
                  <a:pt x="7084039" y="0"/>
                </a:lnTo>
                <a:lnTo>
                  <a:pt x="7084039" y="4131574"/>
                </a:lnTo>
                <a:lnTo>
                  <a:pt x="0" y="4131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462" t="0" r="-346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6965" y="1368467"/>
            <a:ext cx="1088088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b="true" sz="4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CHANNEL MIX &amp; BUDGET ALLOCATION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493691" y="2351328"/>
            <a:ext cx="12714524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Budget Distribution:</a:t>
            </a:r>
          </a:p>
          <a:p>
            <a:pPr algn="ctr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Search (55%): 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High-intent technical lead capture (English).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YouTube Video (15%): 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Establishing Founder-to-Founder authority.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Display/P-Max (15%):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Broad awareness for the "Invisible 70%."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Remarketing (15%)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Bilingual assets to close the "Trust Gap."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95736" y="5546013"/>
            <a:ext cx="10827773" cy="3966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Expert Executi</a:t>
            </a:r>
            <a:r>
              <a:rPr lang="en-US" b="true" sz="29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 Parameters: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Timing: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Strict Mon–Fri (9 AM – 7 PM) schedule to align with professional decision cycles.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Device Adjustment: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+30% Desktop Bid. Essential for B2B as complex research and form-fills happen at desks.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Geography:</a:t>
            </a:r>
            <a:r>
              <a:rPr lang="en-US" sz="2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Priority on Tier 1 Metros (Bangalore, Mumbai, NCR) + Tier 2 Growth Hubs (Lucknow, Jaipur, Pune).</a:t>
            </a:r>
          </a:p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13041" y="1520706"/>
            <a:ext cx="745188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CHALLENGES &amp; LEARNING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2620147"/>
            <a:ext cx="18288000" cy="720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Challenge: Navigating the "Invisible 70%"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 B2B, the biggest hurdle is that the majority of the buyer’s j</a:t>
            </a:r>
            <a:r>
              <a:rPr lang="en-US" sz="3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ourney happens before they ever talk to you.</a:t>
            </a:r>
          </a:p>
          <a:p>
            <a:pPr algn="ctr" marL="798831" indent="-399416" lvl="1">
              <a:lnSpc>
                <a:spcPts val="51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Data Gap:</a:t>
            </a:r>
            <a:r>
              <a:rPr lang="en-US" sz="3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Most founders and CTOs conduct Anonymous Research. They read your blogs, check your LinkedIn, and compare you to competitors without ever clicking a "Lead Gen" ad.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</a:p>
          <a:p>
            <a:pPr algn="ctr" marL="798831" indent="-399416" lvl="1">
              <a:lnSpc>
                <a:spcPts val="51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 CPC vs. Low Volume: </a:t>
            </a:r>
            <a:r>
              <a:rPr lang="en-US" sz="3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Keywords like [GA4 Server-Side Tagging Services] have very low search volume (sometimes &lt;10/month). The challenge is justifying the high cost-per-click to stakeholders when the "quantity" of leads looks low on paper.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9729" y="2007157"/>
            <a:ext cx="15915871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Trust Friction:</a:t>
            </a: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 the Indian SME market, a purely "English/Corporate" persona can sometimes feel distant or untrustworthy to Tier 2 business owners who value personal connection.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401" y="4067372"/>
            <a:ext cx="17421198" cy="5230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</a:p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A. Precision over Popularity (Keyword Learning)</a:t>
            </a:r>
          </a:p>
          <a:p>
            <a:pPr algn="ctr" marL="798829" indent="-399415" lvl="1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Discovery: You learned that broad keywords bring "Job Seekers" and "Students," not "Founders."</a:t>
            </a:r>
          </a:p>
          <a:p>
            <a:pPr algn="ctr" marL="798829" indent="-399415" lvl="1">
              <a:lnSpc>
                <a:spcPts val="51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6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Action: </a:t>
            </a:r>
            <a:r>
              <a:rPr lang="en-US" sz="3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 pivoted to Exact Match sniping. You realized that 5 clicks from the right CTO are worth more than 500 clicks from curious browsers.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-1103862" y="1577707"/>
            <a:ext cx="178417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Learning: Technical &amp; Strategic Pivots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8451" y="2820867"/>
            <a:ext cx="16650849" cy="131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project demonstrates how you evolved from a "Standard Marketer" to a "Performance Architect."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C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98218" y="-477223"/>
            <a:ext cx="20126286" cy="11241445"/>
          </a:xfrm>
          <a:custGeom>
            <a:avLst/>
            <a:gdLst/>
            <a:ahLst/>
            <a:cxnLst/>
            <a:rect r="r" b="b" t="t" l="l"/>
            <a:pathLst>
              <a:path h="11241445" w="20126286">
                <a:moveTo>
                  <a:pt x="0" y="0"/>
                </a:moveTo>
                <a:lnTo>
                  <a:pt x="20126286" y="0"/>
                </a:lnTo>
                <a:lnTo>
                  <a:pt x="20126286" y="11241446"/>
                </a:lnTo>
                <a:lnTo>
                  <a:pt x="0" y="11241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103862" y="1577707"/>
            <a:ext cx="1784175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Learning: Technical &amp; Strategic Pivots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8351" y="2543638"/>
            <a:ext cx="18029649" cy="802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B. Technical Infrastructure as a Marketing Asset</a:t>
            </a:r>
          </a:p>
          <a:p>
            <a:pPr algn="ctr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Discovery: 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Standard browser tracking is no longer en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ough due to ad blockers and privacy updates.</a:t>
            </a:r>
          </a:p>
          <a:p>
            <a:pPr algn="ctr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Action</a:t>
            </a: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Learning to implement GTM Server-Side Tagging became the "secret weapon" to see the "Invisible 70%." This allows you to track conversions that competitors are missing.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C. The "Bilingual Trust-Bridge"</a:t>
            </a:r>
          </a:p>
          <a:p>
            <a:pPr algn="ctr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Discovery: Data showed that while founders search in English, they convert when they see testimonials or case studies in their native language (Hindi/Regional).</a:t>
            </a:r>
          </a:p>
          <a:p>
            <a:pPr algn="ctr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Action: You integrated Bilingual Content (Hindi testimonials) which eliminated the "Trust Friction" and resulted in a documented 2.5x higher conversion rate.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DAHFrLjmlIU</dc:identifier>
  <dcterms:modified xsi:type="dcterms:W3CDTF">2011-08-01T06:04:30Z</dcterms:modified>
  <cp:revision>1</cp:revision>
  <dc:title>GOOGLE ADS CAMPAIGN FOR NEXUS GROWTH LABS</dc:title>
</cp:coreProperties>
</file>